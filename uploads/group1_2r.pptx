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23A99B-67AA-E431-DC35-4246D956EBAB}" v="22" dt="2026-02-23T17:31:20.018"/>
    <p1510:client id="{B1C272CB-C4CF-3C0B-2176-F4D3CC07BECF}" v="80" dt="2026-02-23T18:10:14.084"/>
    <p1510:client id="{DA412827-2485-4CA8-900C-A1CD519BDD59}" v="810" dt="2026-02-23T18:12:46.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A4CA-7E6A-66C0-FDCB-25F08ECA4E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9792F6-8786-9377-5B78-A67C35B16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47580F-B10B-50DC-8607-3BB574475541}"/>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5" name="Footer Placeholder 4">
            <a:extLst>
              <a:ext uri="{FF2B5EF4-FFF2-40B4-BE49-F238E27FC236}">
                <a16:creationId xmlns:a16="http://schemas.microsoft.com/office/drawing/2014/main" id="{005524B9-0245-AF65-475C-51C6B59F76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6D7DD-A198-942C-E6DC-5DC9D3719004}"/>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1993535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B7C7-1EBD-4928-6796-937D5C27D9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20A373-2794-D632-CBDE-2BC81E7500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B25240-5987-0C78-A4A6-651113929750}"/>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5" name="Footer Placeholder 4">
            <a:extLst>
              <a:ext uri="{FF2B5EF4-FFF2-40B4-BE49-F238E27FC236}">
                <a16:creationId xmlns:a16="http://schemas.microsoft.com/office/drawing/2014/main" id="{33E07AAC-1213-DBD8-7319-8EE86BA106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A61FC1-4E1C-D8C8-EB24-94F1B899E0DD}"/>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2315965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21BD1-6671-B623-D7D2-1C454FAF19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EEC9A1-1728-07C9-633C-FEB1071109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9B6269-8EE9-88AB-DBCF-BBFD2F42600C}"/>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5" name="Footer Placeholder 4">
            <a:extLst>
              <a:ext uri="{FF2B5EF4-FFF2-40B4-BE49-F238E27FC236}">
                <a16:creationId xmlns:a16="http://schemas.microsoft.com/office/drawing/2014/main" id="{F91B03C6-C409-8D86-A840-3474FCBF74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A3C773-BCC6-E9F6-E8F0-444B73290BE4}"/>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3212721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AAABE-22F6-BE2E-98CB-CFEF90B610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FB5B9D-62EB-FD7C-509B-249918F2B7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520C86-B118-6FC1-9C22-2C93440D24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D51954-2947-BD63-DDC7-6B90FFE1AC49}"/>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6" name="Footer Placeholder 5">
            <a:extLst>
              <a:ext uri="{FF2B5EF4-FFF2-40B4-BE49-F238E27FC236}">
                <a16:creationId xmlns:a16="http://schemas.microsoft.com/office/drawing/2014/main" id="{5024F123-92A8-6388-0F7B-902D768970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B4FE92-7B4A-0E18-54FB-AC021B3F05F8}"/>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3238048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13EFD-3AD3-AAA5-E9A0-02FCE1BE12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D7AF45-8A47-45B1-EB2F-AF8FDE583F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DC1309-F820-D092-0802-F357EE5BF7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F32D43-4072-71B2-0F89-A123D008FD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314FF5-BC44-9C0B-04FE-63267EBCBA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EBD965-3031-54B0-6BE7-684722B31772}"/>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8" name="Footer Placeholder 7">
            <a:extLst>
              <a:ext uri="{FF2B5EF4-FFF2-40B4-BE49-F238E27FC236}">
                <a16:creationId xmlns:a16="http://schemas.microsoft.com/office/drawing/2014/main" id="{6B7E6B5D-AF84-CFF2-4F2D-5BD9A387BA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AC34F8-20B8-6E9B-C786-F88E9DF50A9D}"/>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321493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BE18F-4388-6FEA-C452-CFA2B375F6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38791F-929C-3D80-4B24-3B8B9E662AC4}"/>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4" name="Footer Placeholder 3">
            <a:extLst>
              <a:ext uri="{FF2B5EF4-FFF2-40B4-BE49-F238E27FC236}">
                <a16:creationId xmlns:a16="http://schemas.microsoft.com/office/drawing/2014/main" id="{976BC605-CBE3-3FFF-7933-78F2D03B36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63C2B4-E2F3-F1DC-1934-F3CDDDCA5154}"/>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15091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45798B-9D3F-4800-9470-9366B23D7381}"/>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3" name="Footer Placeholder 2">
            <a:extLst>
              <a:ext uri="{FF2B5EF4-FFF2-40B4-BE49-F238E27FC236}">
                <a16:creationId xmlns:a16="http://schemas.microsoft.com/office/drawing/2014/main" id="{9BEC9F09-1EED-2768-3446-50A7D6E2BC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3B9774-E690-EA66-36A7-4A75E13E0AEB}"/>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3635355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BC00-97DC-044E-7FAE-78CD93697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3BF253-D162-BCFC-D884-309A9DEA1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31D308-B650-553B-BA7F-CC5B004B6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287DF-D47D-91BA-9586-6DC88E7FA7BC}"/>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6" name="Footer Placeholder 5">
            <a:extLst>
              <a:ext uri="{FF2B5EF4-FFF2-40B4-BE49-F238E27FC236}">
                <a16:creationId xmlns:a16="http://schemas.microsoft.com/office/drawing/2014/main" id="{556F9408-5450-ACBF-C42B-D32336AEA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51AE48-C95D-0A8F-EE19-956457559EA6}"/>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60708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429B3-0A17-4865-AD52-4DD6D2B282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25C801-674D-806B-924F-3A7755F87B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DFBDE60-191E-2AD3-633B-E14CF059F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1DE100-6672-BFD4-BAA6-F400ABDFDC9C}"/>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6" name="Footer Placeholder 5">
            <a:extLst>
              <a:ext uri="{FF2B5EF4-FFF2-40B4-BE49-F238E27FC236}">
                <a16:creationId xmlns:a16="http://schemas.microsoft.com/office/drawing/2014/main" id="{AF8727A2-6D8A-F139-8107-E078A5B650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F67D21-C182-13C6-AB39-8F2262311FD4}"/>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409501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4F3E-50D7-5C5D-FA57-B6918322B6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65CA94-5F82-A0E1-49EA-204646DF8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36B2A-D674-640B-AC92-A1B2C0D3224B}"/>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5" name="Footer Placeholder 4">
            <a:extLst>
              <a:ext uri="{FF2B5EF4-FFF2-40B4-BE49-F238E27FC236}">
                <a16:creationId xmlns:a16="http://schemas.microsoft.com/office/drawing/2014/main" id="{BB42D58D-4884-6107-AB59-098F29D3B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C2D0B5-713A-FC38-931A-EF1CCA8BE13C}"/>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282429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F1986C-272C-186F-5D6B-553DE42FBF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8801B9-0081-03B8-4660-9C15AD5141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52F6FE-9B97-6DCB-256F-3618D13507B8}"/>
              </a:ext>
            </a:extLst>
          </p:cNvPr>
          <p:cNvSpPr>
            <a:spLocks noGrp="1"/>
          </p:cNvSpPr>
          <p:nvPr>
            <p:ph type="dt" sz="half" idx="10"/>
          </p:nvPr>
        </p:nvSpPr>
        <p:spPr/>
        <p:txBody>
          <a:bodyPr/>
          <a:lstStyle/>
          <a:p>
            <a:fld id="{1ED8905F-C701-42BB-A8D6-26F1BEF0B2B3}" type="datetimeFigureOut">
              <a:rPr lang="en-IN" smtClean="0"/>
              <a:t>23-02-2026</a:t>
            </a:fld>
            <a:endParaRPr lang="en-IN"/>
          </a:p>
        </p:txBody>
      </p:sp>
      <p:sp>
        <p:nvSpPr>
          <p:cNvPr id="5" name="Footer Placeholder 4">
            <a:extLst>
              <a:ext uri="{FF2B5EF4-FFF2-40B4-BE49-F238E27FC236}">
                <a16:creationId xmlns:a16="http://schemas.microsoft.com/office/drawing/2014/main" id="{0C45826F-2E84-7920-21C3-3BCA8CBF09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7ABD20-6FEE-434F-4FA5-10C0FF0CE6B2}"/>
              </a:ext>
            </a:extLst>
          </p:cNvPr>
          <p:cNvSpPr>
            <a:spLocks noGrp="1"/>
          </p:cNvSpPr>
          <p:nvPr>
            <p:ph type="sldNum" sz="quarter" idx="12"/>
          </p:nvPr>
        </p:nvSpPr>
        <p:spPr/>
        <p:txBody>
          <a:bodyPr/>
          <a:lstStyle/>
          <a:p>
            <a:fld id="{0FC7D80C-AF26-4DE0-A09D-62B18BEB2777}" type="slidenum">
              <a:rPr lang="en-IN" smtClean="0"/>
              <a:t>‹#›</a:t>
            </a:fld>
            <a:endParaRPr lang="en-IN"/>
          </a:p>
        </p:txBody>
      </p:sp>
    </p:spTree>
    <p:extLst>
      <p:ext uri="{BB962C8B-B14F-4D97-AF65-F5344CB8AC3E}">
        <p14:creationId xmlns:p14="http://schemas.microsoft.com/office/powerpoint/2010/main" val="42125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183832-F0E1-2BDE-8469-57B7516D93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55D54D-0F79-E4E0-3527-34FC1C715D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B41679-14AF-E902-BA11-6EA8D1011D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D8905F-C701-42BB-A8D6-26F1BEF0B2B3}" type="datetimeFigureOut">
              <a:rPr lang="en-IN" smtClean="0"/>
              <a:t>23-02-2026</a:t>
            </a:fld>
            <a:endParaRPr lang="en-IN"/>
          </a:p>
        </p:txBody>
      </p:sp>
      <p:sp>
        <p:nvSpPr>
          <p:cNvPr id="5" name="Footer Placeholder 4">
            <a:extLst>
              <a:ext uri="{FF2B5EF4-FFF2-40B4-BE49-F238E27FC236}">
                <a16:creationId xmlns:a16="http://schemas.microsoft.com/office/drawing/2014/main" id="{7424C58B-F2C5-B9C6-F3B2-33CF2D5434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B17767C-8EEA-22FC-5646-A9C30080D8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C7D80C-AF26-4DE0-A09D-62B18BEB2777}" type="slidenum">
              <a:rPr lang="en-IN" smtClean="0"/>
              <a:t>‹#›</a:t>
            </a:fld>
            <a:endParaRPr lang="en-IN"/>
          </a:p>
        </p:txBody>
      </p:sp>
    </p:spTree>
    <p:extLst>
      <p:ext uri="{BB962C8B-B14F-4D97-AF65-F5344CB8AC3E}">
        <p14:creationId xmlns:p14="http://schemas.microsoft.com/office/powerpoint/2010/main" val="1875382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E2D016-7C3E-91C3-0254-FE8FDC477978}"/>
              </a:ext>
            </a:extLst>
          </p:cNvPr>
          <p:cNvSpPr>
            <a:spLocks noGrp="1"/>
          </p:cNvSpPr>
          <p:nvPr>
            <p:ph type="title"/>
          </p:nvPr>
        </p:nvSpPr>
        <p:spPr>
          <a:xfrm>
            <a:off x="838200" y="1533832"/>
            <a:ext cx="10515600" cy="2880852"/>
          </a:xfrm>
        </p:spPr>
        <p:txBody>
          <a:bodyPr>
            <a:normAutofit fontScale="90000"/>
          </a:bodyPr>
          <a:lstStyle/>
          <a:p>
            <a:pPr algn="ctr"/>
            <a:br>
              <a:rPr lang="en-US" sz="3200" b="1"/>
            </a:br>
            <a:br>
              <a:rPr lang="en-US" sz="3200" b="1"/>
            </a:br>
            <a:r>
              <a:rPr lang="en-US" sz="3200" b="1"/>
              <a:t>  </a:t>
            </a:r>
            <a:r>
              <a:rPr lang="en-US" sz="3200">
                <a:solidFill>
                  <a:srgbClr val="000000"/>
                </a:solidFill>
                <a:latin typeface="Times New Roman"/>
                <a:ea typeface="Times New Roman"/>
                <a:cs typeface="Times New Roman"/>
                <a:sym typeface="Times New Roman"/>
              </a:rPr>
              <a:t>RAGHU ENGINEERING COLLEGE</a:t>
            </a:r>
            <a:br>
              <a:rPr lang="en-US" sz="3200">
                <a:solidFill>
                  <a:srgbClr val="000000"/>
                </a:solidFill>
                <a:latin typeface="Times New Roman"/>
                <a:ea typeface="Times New Roman"/>
                <a:cs typeface="Times New Roman"/>
                <a:sym typeface="Times New Roman"/>
              </a:rPr>
            </a:br>
            <a:br>
              <a:rPr lang="en-US" sz="3200" b="1"/>
            </a:br>
            <a:r>
              <a:rPr lang="en-US" sz="3200" b="1"/>
              <a:t>Multi-Document Question Answering System using Retrieval Augmented Generation (RAG)</a:t>
            </a:r>
            <a:br>
              <a:rPr lang="en-US" sz="3200"/>
            </a:br>
            <a:endParaRPr lang="en-IN" sz="3200"/>
          </a:p>
        </p:txBody>
      </p:sp>
      <p:sp>
        <p:nvSpPr>
          <p:cNvPr id="5" name="Freeform 2">
            <a:extLst>
              <a:ext uri="{FF2B5EF4-FFF2-40B4-BE49-F238E27FC236}">
                <a16:creationId xmlns:a16="http://schemas.microsoft.com/office/drawing/2014/main" id="{B104E927-8C7E-EA24-A938-32479D8D398F}"/>
              </a:ext>
            </a:extLst>
          </p:cNvPr>
          <p:cNvSpPr/>
          <p:nvPr/>
        </p:nvSpPr>
        <p:spPr>
          <a:xfrm>
            <a:off x="5088366" y="196645"/>
            <a:ext cx="1754886" cy="1425677"/>
          </a:xfrm>
          <a:custGeom>
            <a:avLst/>
            <a:gdLst/>
            <a:ahLst/>
            <a:cxnLst/>
            <a:rect l="l" t="t" r="r" b="b"/>
            <a:pathLst>
              <a:path w="2015269" h="2015269">
                <a:moveTo>
                  <a:pt x="0" y="0"/>
                </a:moveTo>
                <a:lnTo>
                  <a:pt x="2015270" y="0"/>
                </a:lnTo>
                <a:lnTo>
                  <a:pt x="2015270" y="2015269"/>
                </a:lnTo>
                <a:lnTo>
                  <a:pt x="0" y="2015269"/>
                </a:lnTo>
                <a:lnTo>
                  <a:pt x="0" y="0"/>
                </a:lnTo>
                <a:close/>
              </a:path>
            </a:pathLst>
          </a:custGeom>
          <a:blipFill>
            <a:blip r:embed="rId2"/>
            <a:stretch>
              <a:fillRect/>
            </a:stretch>
          </a:blipFill>
        </p:spPr>
        <p:txBody>
          <a:bodyPr/>
          <a:lstStyle/>
          <a:p>
            <a:endParaRPr lang="en-IN"/>
          </a:p>
        </p:txBody>
      </p:sp>
      <p:sp>
        <p:nvSpPr>
          <p:cNvPr id="6" name="TextBox 5">
            <a:extLst>
              <a:ext uri="{FF2B5EF4-FFF2-40B4-BE49-F238E27FC236}">
                <a16:creationId xmlns:a16="http://schemas.microsoft.com/office/drawing/2014/main" id="{A35CC1C6-4311-73EE-845F-70CA63CABCD2}"/>
              </a:ext>
            </a:extLst>
          </p:cNvPr>
          <p:cNvSpPr txBox="1"/>
          <p:nvPr/>
        </p:nvSpPr>
        <p:spPr>
          <a:xfrm>
            <a:off x="454742" y="4984955"/>
            <a:ext cx="7597877" cy="1754326"/>
          </a:xfrm>
          <a:prstGeom prst="rect">
            <a:avLst/>
          </a:prstGeom>
          <a:noFill/>
        </p:spPr>
        <p:txBody>
          <a:bodyPr wrap="square" lIns="91440" tIns="45720" rIns="91440" bIns="45720" rtlCol="0" anchor="t">
            <a:spAutoFit/>
          </a:bodyPr>
          <a:lstStyle/>
          <a:p>
            <a:r>
              <a:rPr lang="en-US" b="1">
                <a:latin typeface="Times New Roman" panose="02020603050405020304" pitchFamily="18" charset="0"/>
                <a:cs typeface="Times New Roman" panose="02020603050405020304" pitchFamily="18" charset="0"/>
              </a:rPr>
              <a:t> PRESENTED BY</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UMMIDI SRI VYSHNAVI                                        </a:t>
            </a:r>
            <a:r>
              <a:rPr lang="en-IN">
                <a:latin typeface="Times New Roman" panose="02020603050405020304" pitchFamily="18" charset="0"/>
                <a:cs typeface="Times New Roman" panose="02020603050405020304" pitchFamily="18" charset="0"/>
              </a:rPr>
              <a:t>22981A44I6</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UGGINA NOOKESWARA SATYANARAYANA    </a:t>
            </a:r>
            <a:r>
              <a:rPr lang="en-IN">
                <a:latin typeface="Times New Roman" panose="02020603050405020304" pitchFamily="18" charset="0"/>
                <a:cs typeface="Times New Roman" panose="02020603050405020304" pitchFamily="18" charset="0"/>
              </a:rPr>
              <a:t>22981A44I6</a:t>
            </a:r>
            <a:endParaRPr lang="en-US">
              <a:latin typeface="Times New Roman" panose="02020603050405020304" pitchFamily="18" charset="0"/>
              <a:ea typeface="Calibri"/>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TALAGANA TARUN                                                </a:t>
            </a:r>
            <a:r>
              <a:rPr lang="en-IN">
                <a:latin typeface="Times New Roman" panose="02020603050405020304" pitchFamily="18" charset="0"/>
                <a:cs typeface="Times New Roman" panose="02020603050405020304" pitchFamily="18" charset="0"/>
              </a:rPr>
              <a:t>22981A44I6</a:t>
            </a:r>
            <a:endParaRPr lang="en-US">
              <a:latin typeface="Times New Roman" panose="02020603050405020304" pitchFamily="18" charset="0"/>
              <a:ea typeface="Calibri"/>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SABBAVARAPU SAI MADHU                                </a:t>
            </a:r>
            <a:r>
              <a:rPr lang="en-IN">
                <a:latin typeface="Times New Roman" panose="02020603050405020304" pitchFamily="18" charset="0"/>
                <a:cs typeface="Times New Roman" panose="02020603050405020304" pitchFamily="18" charset="0"/>
              </a:rPr>
              <a:t>22981A44I6</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9CAEA92-8E55-BDB9-DB4F-2BA36F2DAF70}"/>
              </a:ext>
            </a:extLst>
          </p:cNvPr>
          <p:cNvSpPr txBox="1"/>
          <p:nvPr/>
        </p:nvSpPr>
        <p:spPr>
          <a:xfrm>
            <a:off x="8848427" y="5266791"/>
            <a:ext cx="2654710" cy="1192442"/>
          </a:xfrm>
          <a:prstGeom prst="rect">
            <a:avLst/>
          </a:prstGeom>
          <a:noFill/>
        </p:spPr>
        <p:txBody>
          <a:bodyPr wrap="square" lIns="91440" tIns="45720" rIns="91440" bIns="45720" rtlCol="0" anchor="t">
            <a:spAutoFit/>
          </a:bodyPr>
          <a:lstStyle/>
          <a:p>
            <a:pPr algn="ctr">
              <a:lnSpc>
                <a:spcPts val="2210"/>
              </a:lnSpc>
            </a:pPr>
            <a:r>
              <a:rPr lang="en-US">
                <a:solidFill>
                  <a:srgbClr val="000000"/>
                </a:solidFill>
                <a:latin typeface="Times New Roman" panose="02020603050405020304" pitchFamily="18" charset="0"/>
                <a:ea typeface="Times New Roman"/>
                <a:cs typeface="Times New Roman" panose="02020603050405020304" pitchFamily="18" charset="0"/>
                <a:sym typeface="Times New Roman"/>
              </a:rPr>
              <a:t>Under the guidance </a:t>
            </a:r>
            <a:endParaRPr lang="en-US">
              <a:solidFill>
                <a:srgbClr val="000000"/>
              </a:solidFill>
              <a:latin typeface="Times New Roman" panose="02020603050405020304" pitchFamily="18" charset="0"/>
              <a:ea typeface="Calibri" panose="020F0502020204030204"/>
              <a:cs typeface="Times New Roman" panose="02020603050405020304" pitchFamily="18" charset="0"/>
              <a:sym typeface="Times New Roman"/>
            </a:endParaRPr>
          </a:p>
          <a:p>
            <a:pPr algn="ctr">
              <a:lnSpc>
                <a:spcPts val="2210"/>
              </a:lnSpc>
            </a:pPr>
            <a:r>
              <a:rPr lang="en-US">
                <a:solidFill>
                  <a:srgbClr val="000000"/>
                </a:solidFill>
                <a:latin typeface="Times New Roman" panose="02020603050405020304" pitchFamily="18" charset="0"/>
                <a:ea typeface="Times New Roman"/>
                <a:cs typeface="Times New Roman" panose="02020603050405020304" pitchFamily="18" charset="0"/>
                <a:sym typeface="Times New Roman"/>
              </a:rPr>
              <a:t>Mr. V. VIDHYA SAGAR</a:t>
            </a:r>
            <a:endParaRPr lang="en-US">
              <a:latin typeface="Times New Roman" panose="02020603050405020304" pitchFamily="18" charset="0"/>
              <a:ea typeface="Calibri"/>
              <a:cs typeface="Times New Roman" panose="02020603050405020304" pitchFamily="18" charset="0"/>
              <a:sym typeface="Times New Roman"/>
            </a:endParaRPr>
          </a:p>
          <a:p>
            <a:pPr algn="ctr">
              <a:lnSpc>
                <a:spcPts val="2210"/>
              </a:lnSpc>
            </a:pPr>
            <a:r>
              <a:rPr lang="en-US" sz="1400">
                <a:solidFill>
                  <a:srgbClr val="000000"/>
                </a:solidFill>
                <a:latin typeface="Times New Roman" panose="02020603050405020304" pitchFamily="18" charset="0"/>
                <a:ea typeface="Times New Roman"/>
                <a:cs typeface="Times New Roman" panose="02020603050405020304" pitchFamily="18" charset="0"/>
                <a:sym typeface="Times New Roman"/>
              </a:rPr>
              <a:t>CSE(DATA SCIENCE)    </a:t>
            </a:r>
            <a:endParaRPr lang="en-US" sz="1400">
              <a:solidFill>
                <a:srgbClr val="000000"/>
              </a:solidFill>
              <a:latin typeface="Times New Roman" panose="02020603050405020304" pitchFamily="18" charset="0"/>
              <a:ea typeface="Times New Roman"/>
              <a:cs typeface="Times New Roman" panose="02020603050405020304" pitchFamily="18" charset="0"/>
            </a:endParaRPr>
          </a:p>
          <a:p>
            <a:pPr algn="ctr">
              <a:lnSpc>
                <a:spcPts val="2210"/>
              </a:lnSpc>
            </a:pPr>
            <a:endParaRPr lang="en-US" sz="140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66280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55863F-3A47-C18C-A065-928E99291754}"/>
              </a:ext>
            </a:extLst>
          </p:cNvPr>
          <p:cNvSpPr>
            <a:spLocks noGrp="1"/>
          </p:cNvSpPr>
          <p:nvPr>
            <p:ph type="title"/>
          </p:nvPr>
        </p:nvSpPr>
        <p:spPr/>
        <p:txBody>
          <a:bodyPr/>
          <a:lstStyle/>
          <a:p>
            <a:r>
              <a:rPr lang="en-US"/>
              <a:t>TABLE OF CONTENTS</a:t>
            </a:r>
            <a:endParaRPr lang="en-IN"/>
          </a:p>
        </p:txBody>
      </p:sp>
      <p:sp>
        <p:nvSpPr>
          <p:cNvPr id="5" name="TextBox 4">
            <a:extLst>
              <a:ext uri="{FF2B5EF4-FFF2-40B4-BE49-F238E27FC236}">
                <a16:creationId xmlns:a16="http://schemas.microsoft.com/office/drawing/2014/main" id="{6AF94F70-92D6-15B1-D382-397C3EE2A320}"/>
              </a:ext>
            </a:extLst>
          </p:cNvPr>
          <p:cNvSpPr txBox="1"/>
          <p:nvPr/>
        </p:nvSpPr>
        <p:spPr>
          <a:xfrm>
            <a:off x="926690" y="1868590"/>
            <a:ext cx="6781800" cy="353943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•Abstract</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•Introduction</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•Existing System</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•Proposed System</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•Methodology</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•Architecture</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•Results</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•Conclusion</a:t>
            </a:r>
            <a:endParaRPr lang="en-IN" sz="2800"/>
          </a:p>
        </p:txBody>
      </p:sp>
    </p:spTree>
    <p:extLst>
      <p:ext uri="{BB962C8B-B14F-4D97-AF65-F5344CB8AC3E}">
        <p14:creationId xmlns:p14="http://schemas.microsoft.com/office/powerpoint/2010/main" val="4219589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A953C-DF36-38DA-9E01-0E03DBCBDF8D}"/>
              </a:ext>
            </a:extLst>
          </p:cNvPr>
          <p:cNvSpPr>
            <a:spLocks noGrp="1"/>
          </p:cNvSpPr>
          <p:nvPr>
            <p:ph type="title"/>
          </p:nvPr>
        </p:nvSpPr>
        <p:spPr>
          <a:xfrm>
            <a:off x="838200" y="304800"/>
            <a:ext cx="10515600" cy="963101"/>
          </a:xfrm>
        </p:spPr>
        <p:txBody>
          <a:bodyPr>
            <a:normAutofit/>
          </a:bodyPr>
          <a:lstStyle/>
          <a:p>
            <a:pPr algn="ctr"/>
            <a:r>
              <a:rPr lang="en-US" sz="2800" b="1">
                <a:latin typeface="Times New Roman" panose="02020603050405020304" pitchFamily="18" charset="0"/>
                <a:cs typeface="Times New Roman" panose="02020603050405020304" pitchFamily="18" charset="0"/>
              </a:rPr>
              <a:t>INTRODUCTION</a:t>
            </a:r>
            <a:endParaRPr lang="en-IN" sz="28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9EB40BF-2C8F-E670-7284-26EC033806BF}"/>
              </a:ext>
            </a:extLst>
          </p:cNvPr>
          <p:cNvSpPr txBox="1"/>
          <p:nvPr/>
        </p:nvSpPr>
        <p:spPr>
          <a:xfrm>
            <a:off x="550606" y="1563329"/>
            <a:ext cx="11179278" cy="4401205"/>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Large documents such as research papers, legal files, and technical manuals are difficult to manually analyze. Traditional keyword-based search fails to provide contextual answers.</a:t>
            </a:r>
          </a:p>
          <a:p>
            <a:r>
              <a:rPr lang="en-US" sz="2800">
                <a:latin typeface="Times New Roman" panose="02020603050405020304" pitchFamily="18" charset="0"/>
                <a:cs typeface="Times New Roman" panose="02020603050405020304" pitchFamily="18" charset="0"/>
              </a:rPr>
              <a:t>RAG combines:</a:t>
            </a:r>
          </a:p>
          <a:p>
            <a:pPr marL="457200"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Information Retrieval</a:t>
            </a:r>
          </a:p>
          <a:p>
            <a:pPr marL="457200"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Vector Embeddings</a:t>
            </a:r>
          </a:p>
          <a:p>
            <a:pPr marL="457200"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Large Language Models</a:t>
            </a:r>
          </a:p>
          <a:p>
            <a:r>
              <a:rPr lang="en-US" sz="2800">
                <a:latin typeface="Times New Roman" panose="02020603050405020304" pitchFamily="18" charset="0"/>
                <a:cs typeface="Times New Roman" panose="02020603050405020304" pitchFamily="18" charset="0"/>
              </a:rPr>
              <a:t>This enables accurate, context-aware responses from user-uploaded documents.</a:t>
            </a:r>
          </a:p>
          <a:p>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387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AD8A1-53D5-A8DD-C72E-1ED9E1C43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C0B10-8408-4096-FA82-BAA7EB74937B}"/>
              </a:ext>
            </a:extLst>
          </p:cNvPr>
          <p:cNvSpPr>
            <a:spLocks noGrp="1"/>
          </p:cNvSpPr>
          <p:nvPr>
            <p:ph type="title"/>
          </p:nvPr>
        </p:nvSpPr>
        <p:spPr>
          <a:xfrm>
            <a:off x="838200" y="304800"/>
            <a:ext cx="10515600" cy="963101"/>
          </a:xfrm>
        </p:spPr>
        <p:txBody>
          <a:bodyPr>
            <a:normAutofit/>
          </a:bodyPr>
          <a:lstStyle/>
          <a:p>
            <a:pPr algn="ctr"/>
            <a:r>
              <a:rPr lang="en-US" sz="2800" b="1">
                <a:latin typeface="Times New Roman" panose="02020603050405020304" pitchFamily="18" charset="0"/>
                <a:cs typeface="Times New Roman" panose="02020603050405020304" pitchFamily="18" charset="0"/>
              </a:rPr>
              <a:t>ABSTRACT</a:t>
            </a:r>
            <a:endParaRPr lang="en-IN" sz="28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DEE3765-E883-143B-6894-EAE2EB5F105A}"/>
              </a:ext>
            </a:extLst>
          </p:cNvPr>
          <p:cNvSpPr txBox="1"/>
          <p:nvPr/>
        </p:nvSpPr>
        <p:spPr>
          <a:xfrm>
            <a:off x="550606" y="1563329"/>
            <a:ext cx="11179278" cy="4401205"/>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This project presents a Retrieval-Augmented Generation (RAG) based system for multi-document question answering. The system allows users to upload multiple PDF documents and ask contextual questions. Instead of relying solely on a language model’s internal knowledge, the system retrieves relevant document chunks using vector embeddings and generates accurate responses.</a:t>
            </a:r>
          </a:p>
          <a:p>
            <a:r>
              <a:rPr lang="en-IN" sz="2800">
                <a:latin typeface="Times New Roman" panose="02020603050405020304" pitchFamily="18" charset="0"/>
                <a:cs typeface="Times New Roman" panose="02020603050405020304" pitchFamily="18" charset="0"/>
              </a:rPr>
              <a:t>The solution integrates PDF processing, semantic search, vector databases, and LLM-based answer generation to improve accuracy and reduce hallucination.</a:t>
            </a:r>
          </a:p>
          <a:p>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8306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51638-BD26-8CD0-1A1B-32B71E619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0271F-8606-6D1C-F23C-309E2386D46A}"/>
              </a:ext>
            </a:extLst>
          </p:cNvPr>
          <p:cNvSpPr>
            <a:spLocks noGrp="1"/>
          </p:cNvSpPr>
          <p:nvPr>
            <p:ph type="title"/>
          </p:nvPr>
        </p:nvSpPr>
        <p:spPr>
          <a:xfrm>
            <a:off x="838200" y="304800"/>
            <a:ext cx="10515600" cy="963101"/>
          </a:xfrm>
        </p:spPr>
        <p:txBody>
          <a:bodyPr>
            <a:normAutofit/>
          </a:bodyPr>
          <a:lstStyle/>
          <a:p>
            <a:pPr algn="ctr"/>
            <a:r>
              <a:rPr lang="en-US" sz="2800" b="1">
                <a:latin typeface="Times New Roman" panose="02020603050405020304" pitchFamily="18" charset="0"/>
                <a:cs typeface="Times New Roman" panose="02020603050405020304" pitchFamily="18" charset="0"/>
              </a:rPr>
              <a:t>PROBLEM STATMENT</a:t>
            </a:r>
            <a:endParaRPr lang="en-IN" sz="28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9ED585C-7124-5AE1-682D-B00C9F8137C7}"/>
              </a:ext>
            </a:extLst>
          </p:cNvPr>
          <p:cNvSpPr txBox="1"/>
          <p:nvPr/>
        </p:nvSpPr>
        <p:spPr>
          <a:xfrm>
            <a:off x="506361" y="1494503"/>
            <a:ext cx="11179278" cy="3892861"/>
          </a:xfrm>
          <a:prstGeom prst="rect">
            <a:avLst/>
          </a:prstGeom>
          <a:noFill/>
        </p:spPr>
        <p:txBody>
          <a:bodyPr wrap="square" rtlCol="0">
            <a:spAutoFit/>
          </a:bodyPr>
          <a:lstStyle/>
          <a:p>
            <a:pPr>
              <a:lnSpc>
                <a:spcPct val="150000"/>
              </a:lnSpc>
            </a:pPr>
            <a:r>
              <a:rPr lang="en-IN" sz="2800">
                <a:latin typeface="Times New Roman" panose="02020603050405020304" pitchFamily="18" charset="0"/>
                <a:cs typeface="Times New Roman" panose="02020603050405020304" pitchFamily="18" charset="0"/>
              </a:rPr>
              <a:t>La</a:t>
            </a:r>
            <a:r>
              <a:rPr lang="en-US" sz="2800" err="1">
                <a:latin typeface="Times New Roman" panose="02020603050405020304" pitchFamily="18" charset="0"/>
                <a:cs typeface="Times New Roman" panose="02020603050405020304" pitchFamily="18" charset="0"/>
              </a:rPr>
              <a:t>rge</a:t>
            </a:r>
            <a:r>
              <a:rPr lang="en-US" sz="2800">
                <a:latin typeface="Times New Roman" panose="02020603050405020304" pitchFamily="18" charset="0"/>
                <a:cs typeface="Times New Roman" panose="02020603050405020304" pitchFamily="18" charset="0"/>
              </a:rPr>
              <a:t> volumes of unstructured documents such as research papers, reports, and legal files are difficult to analyze manually. Traditional keyword-based search systems fail to understand context and often return irrelevant results. Although Large Language Models (LLMs) can generate fluent answers, they may produce hallucinated or inaccurate information when not grounded in specific documents.</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9061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EB15A-B2F3-142B-EBEA-423D111E3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3BFD4-8C03-0262-D262-E6E3B83BDF3F}"/>
              </a:ext>
            </a:extLst>
          </p:cNvPr>
          <p:cNvSpPr>
            <a:spLocks noGrp="1"/>
          </p:cNvSpPr>
          <p:nvPr>
            <p:ph type="title"/>
          </p:nvPr>
        </p:nvSpPr>
        <p:spPr>
          <a:xfrm>
            <a:off x="838200" y="118447"/>
            <a:ext cx="10515600" cy="963101"/>
          </a:xfrm>
        </p:spPr>
        <p:txBody>
          <a:bodyPr>
            <a:normAutofit/>
          </a:bodyPr>
          <a:lstStyle/>
          <a:p>
            <a:pPr algn="ctr"/>
            <a:r>
              <a:rPr lang="en-US" sz="2800" b="1">
                <a:latin typeface="Times New Roman" panose="02020603050405020304" pitchFamily="18" charset="0"/>
                <a:cs typeface="Times New Roman" panose="02020603050405020304" pitchFamily="18" charset="0"/>
              </a:rPr>
              <a:t>EXSISTING SYSTEM</a:t>
            </a:r>
            <a:endParaRPr lang="en-IN" sz="28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BFD818-3B61-BDA0-B075-332FCFC04738}"/>
              </a:ext>
            </a:extLst>
          </p:cNvPr>
          <p:cNvSpPr txBox="1"/>
          <p:nvPr/>
        </p:nvSpPr>
        <p:spPr>
          <a:xfrm>
            <a:off x="506361" y="1081548"/>
            <a:ext cx="11066207" cy="5776452"/>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 Traditional Large Language Models (LLMs) store knowledge only in model parameters (parametric memory).</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They cannot dynamically access external or user-specific documents.</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May generate hallucinated or outdated information.</a:t>
            </a:r>
          </a:p>
          <a:p>
            <a:r>
              <a:rPr lang="en-IN" sz="2800" b="1">
                <a:latin typeface="Times New Roman" panose="02020603050405020304" pitchFamily="18" charset="0"/>
                <a:cs typeface="Times New Roman" panose="02020603050405020304" pitchFamily="18" charset="0"/>
              </a:rPr>
              <a:t>RAG Framework (Lewis et al., 2020):</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Uses Dense Passage Retriever (DPR) to fetch relevant documents.</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Retrieved passages are passed to a generator model (e.g., BART).</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Improves factual accuracy compared to standalone LLMs.</a:t>
            </a:r>
          </a:p>
          <a:p>
            <a:r>
              <a:rPr lang="en-IN" sz="2800" b="1">
                <a:latin typeface="Times New Roman" panose="02020603050405020304" pitchFamily="18" charset="0"/>
                <a:cs typeface="Times New Roman" panose="02020603050405020304" pitchFamily="18" charset="0"/>
              </a:rPr>
              <a:t>Limitations:</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Designed mainly for large static datasets (e.g., Wikipedia).</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Does not directly support user-uploaded multi-document PDFs.</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No structured extraction of tables or images.</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 Computationally expensive for real-time applications.</a:t>
            </a:r>
          </a:p>
        </p:txBody>
      </p:sp>
    </p:spTree>
    <p:extLst>
      <p:ext uri="{BB962C8B-B14F-4D97-AF65-F5344CB8AC3E}">
        <p14:creationId xmlns:p14="http://schemas.microsoft.com/office/powerpoint/2010/main" val="2349861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88E5-997B-C5F6-ADB5-428FD6C2C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36624-1E0C-C95E-C0B3-61B0F6E7449F}"/>
              </a:ext>
            </a:extLst>
          </p:cNvPr>
          <p:cNvSpPr>
            <a:spLocks noGrp="1"/>
          </p:cNvSpPr>
          <p:nvPr>
            <p:ph type="title"/>
          </p:nvPr>
        </p:nvSpPr>
        <p:spPr>
          <a:xfrm>
            <a:off x="838200" y="118447"/>
            <a:ext cx="10515600" cy="963101"/>
          </a:xfrm>
        </p:spPr>
        <p:txBody>
          <a:bodyPr>
            <a:normAutofit/>
          </a:bodyPr>
          <a:lstStyle/>
          <a:p>
            <a:pPr algn="ctr"/>
            <a:r>
              <a:rPr lang="en-US" sz="3600" b="1">
                <a:latin typeface="Times New Roman" panose="02020603050405020304" pitchFamily="18" charset="0"/>
                <a:cs typeface="Times New Roman" panose="02020603050405020304" pitchFamily="18" charset="0"/>
              </a:rPr>
              <a:t>PROPOSED SYSTEM</a:t>
            </a:r>
            <a:endParaRPr lang="en-IN" sz="36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6885943-D0B2-54A5-6343-3D16A9206A2F}"/>
              </a:ext>
            </a:extLst>
          </p:cNvPr>
          <p:cNvSpPr txBox="1"/>
          <p:nvPr/>
        </p:nvSpPr>
        <p:spPr>
          <a:xfrm>
            <a:off x="506361" y="1081548"/>
            <a:ext cx="11066207" cy="5262979"/>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 Developed a </a:t>
            </a:r>
            <a:r>
              <a:rPr lang="en-US" sz="2800" b="1">
                <a:latin typeface="Times New Roman" panose="02020603050405020304" pitchFamily="18" charset="0"/>
                <a:cs typeface="Times New Roman" panose="02020603050405020304" pitchFamily="18" charset="0"/>
              </a:rPr>
              <a:t>web-based interface using Flask</a:t>
            </a:r>
            <a:r>
              <a:rPr lang="en-US" sz="2800">
                <a:latin typeface="Times New Roman" panose="02020603050405020304" pitchFamily="18" charset="0"/>
                <a:cs typeface="Times New Roman" panose="02020603050405020304" pitchFamily="18" charset="0"/>
              </a:rPr>
              <a:t> to enable user interaction.</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Enabled </a:t>
            </a:r>
            <a:r>
              <a:rPr lang="en-US" sz="2800" b="1">
                <a:latin typeface="Times New Roman" panose="02020603050405020304" pitchFamily="18" charset="0"/>
                <a:cs typeface="Times New Roman" panose="02020603050405020304" pitchFamily="18" charset="0"/>
              </a:rPr>
              <a:t>support for user-uploaded PDF documents</a:t>
            </a:r>
            <a:r>
              <a:rPr lang="en-US" sz="2800">
                <a:latin typeface="Times New Roman" panose="02020603050405020304" pitchFamily="18" charset="0"/>
                <a:cs typeface="Times New Roman" panose="02020603050405020304" pitchFamily="18" charset="0"/>
              </a:rPr>
              <a:t> instead of static datasets.</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Implemented </a:t>
            </a:r>
            <a:r>
              <a:rPr lang="en-US" sz="2800" b="1">
                <a:latin typeface="Times New Roman" panose="02020603050405020304" pitchFamily="18" charset="0"/>
                <a:cs typeface="Times New Roman" panose="02020603050405020304" pitchFamily="18" charset="0"/>
              </a:rPr>
              <a:t>text extraction and chunking</a:t>
            </a:r>
            <a:r>
              <a:rPr lang="en-US" sz="2800">
                <a:latin typeface="Times New Roman" panose="02020603050405020304" pitchFamily="18" charset="0"/>
                <a:cs typeface="Times New Roman" panose="02020603050405020304" pitchFamily="18" charset="0"/>
              </a:rPr>
              <a:t> for efficient document processing.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Integrated </a:t>
            </a:r>
            <a:r>
              <a:rPr lang="en-US" sz="2800" b="1">
                <a:latin typeface="Times New Roman" panose="02020603050405020304" pitchFamily="18" charset="0"/>
                <a:cs typeface="Times New Roman" panose="02020603050405020304" pitchFamily="18" charset="0"/>
              </a:rPr>
              <a:t>local embedding generation using </a:t>
            </a:r>
            <a:r>
              <a:rPr lang="en-US" sz="2800" b="1" err="1">
                <a:latin typeface="Times New Roman" panose="02020603050405020304" pitchFamily="18" charset="0"/>
                <a:cs typeface="Times New Roman" panose="02020603050405020304" pitchFamily="18" charset="0"/>
              </a:rPr>
              <a:t>MiniLM</a:t>
            </a:r>
            <a:r>
              <a:rPr lang="en-US" sz="2800">
                <a:latin typeface="Times New Roman" panose="02020603050405020304" pitchFamily="18" charset="0"/>
                <a:cs typeface="Times New Roman" panose="02020603050405020304" pitchFamily="18" charset="0"/>
              </a:rPr>
              <a:t> for semantic representation.</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Used </a:t>
            </a:r>
            <a:r>
              <a:rPr lang="en-US" sz="2800" b="1">
                <a:latin typeface="Times New Roman" panose="02020603050405020304" pitchFamily="18" charset="0"/>
                <a:cs typeface="Times New Roman" panose="02020603050405020304" pitchFamily="18" charset="0"/>
              </a:rPr>
              <a:t>FAISS for vector storage and similarity search</a:t>
            </a:r>
            <a:r>
              <a:rPr lang="en-US" sz="2800">
                <a:latin typeface="Times New Roman" panose="02020603050405020304" pitchFamily="18" charset="0"/>
                <a:cs typeface="Times New Roman" panose="02020603050405020304" pitchFamily="18" charset="0"/>
              </a:rPr>
              <a:t>.</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Implemented </a:t>
            </a:r>
            <a:r>
              <a:rPr lang="en-US" sz="2800" b="1">
                <a:latin typeface="Times New Roman" panose="02020603050405020304" pitchFamily="18" charset="0"/>
                <a:cs typeface="Times New Roman" panose="02020603050405020304" pitchFamily="18" charset="0"/>
              </a:rPr>
              <a:t>local LLM-based answer generation</a:t>
            </a:r>
            <a:r>
              <a:rPr lang="en-US" sz="2800">
                <a:latin typeface="Times New Roman" panose="02020603050405020304" pitchFamily="18" charset="0"/>
                <a:cs typeface="Times New Roman" panose="02020603050405020304" pitchFamily="18" charset="0"/>
              </a:rPr>
              <a:t> without relying entirely on external APIs.</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Built a </a:t>
            </a:r>
            <a:r>
              <a:rPr lang="en-US" sz="2800" b="1">
                <a:latin typeface="Times New Roman" panose="02020603050405020304" pitchFamily="18" charset="0"/>
                <a:cs typeface="Times New Roman" panose="02020603050405020304" pitchFamily="18" charset="0"/>
              </a:rPr>
              <a:t>fully functional end-to-end RAG pipeline</a:t>
            </a:r>
            <a:r>
              <a:rPr lang="en-US" sz="2800">
                <a:latin typeface="Times New Roman" panose="02020603050405020304" pitchFamily="18" charset="0"/>
                <a:cs typeface="Times New Roman" panose="02020603050405020304" pitchFamily="18" charset="0"/>
              </a:rPr>
              <a:t> from document upload to answer generation.</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260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CCC6-FCBB-D08D-00E0-655D0BA26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33C22-0E8C-EE8D-22E9-B53BEE5BFA4C}"/>
              </a:ext>
            </a:extLst>
          </p:cNvPr>
          <p:cNvSpPr>
            <a:spLocks noGrp="1"/>
          </p:cNvSpPr>
          <p:nvPr>
            <p:ph type="title"/>
          </p:nvPr>
        </p:nvSpPr>
        <p:spPr>
          <a:xfrm>
            <a:off x="838200" y="118447"/>
            <a:ext cx="10734368" cy="864779"/>
          </a:xfrm>
        </p:spPr>
        <p:txBody>
          <a:bodyPr>
            <a:normAutofit/>
          </a:bodyPr>
          <a:lstStyle/>
          <a:p>
            <a:pPr algn="ctr"/>
            <a:r>
              <a:rPr lang="en-US" sz="2800" b="1">
                <a:latin typeface="Times New Roman" panose="02020603050405020304" pitchFamily="18" charset="0"/>
                <a:cs typeface="Times New Roman" panose="02020603050405020304" pitchFamily="18" charset="0"/>
              </a:rPr>
              <a:t>EXISTING VS PROPOSED </a:t>
            </a:r>
            <a:endParaRPr lang="en-IN" sz="28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D891DA5-6AF5-1A2B-BA11-E23065F16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9099" y="983226"/>
            <a:ext cx="8973802" cy="5156014"/>
          </a:xfrm>
          <a:prstGeom prst="rect">
            <a:avLst/>
          </a:prstGeom>
        </p:spPr>
      </p:pic>
    </p:spTree>
    <p:extLst>
      <p:ext uri="{BB962C8B-B14F-4D97-AF65-F5344CB8AC3E}">
        <p14:creationId xmlns:p14="http://schemas.microsoft.com/office/powerpoint/2010/main" val="2361449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95BA4-AC03-33F3-A064-8D059520C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2F48F-FB55-9680-AE29-D36D1E84F239}"/>
              </a:ext>
            </a:extLst>
          </p:cNvPr>
          <p:cNvSpPr>
            <a:spLocks noGrp="1"/>
          </p:cNvSpPr>
          <p:nvPr>
            <p:ph type="title"/>
          </p:nvPr>
        </p:nvSpPr>
        <p:spPr>
          <a:xfrm>
            <a:off x="838200" y="118447"/>
            <a:ext cx="10734368" cy="864779"/>
          </a:xfrm>
        </p:spPr>
        <p:txBody>
          <a:bodyPr>
            <a:normAutofit/>
          </a:bodyPr>
          <a:lstStyle/>
          <a:p>
            <a:pPr algn="ctr"/>
            <a:r>
              <a:rPr lang="en-US" sz="2800" b="1">
                <a:latin typeface="Times New Roman" panose="02020603050405020304" pitchFamily="18" charset="0"/>
                <a:cs typeface="Times New Roman" panose="02020603050405020304" pitchFamily="18" charset="0"/>
              </a:rPr>
              <a:t>ARCHITECTURE </a:t>
            </a:r>
            <a:endParaRPr lang="en-IN" sz="28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580E51D-B5F5-8027-6CDA-4B3A701BD2E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71673" y="1128409"/>
            <a:ext cx="7734021" cy="5156014"/>
          </a:xfrm>
          <a:prstGeom prst="rect">
            <a:avLst/>
          </a:prstGeom>
        </p:spPr>
      </p:pic>
    </p:spTree>
    <p:extLst>
      <p:ext uri="{BB962C8B-B14F-4D97-AF65-F5344CB8AC3E}">
        <p14:creationId xmlns:p14="http://schemas.microsoft.com/office/powerpoint/2010/main" val="609853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B48BF-6281-C2C2-3F0F-83CA96DB3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C3C2E-260A-BB38-72B0-23E484218A86}"/>
              </a:ext>
            </a:extLst>
          </p:cNvPr>
          <p:cNvSpPr>
            <a:spLocks noGrp="1"/>
          </p:cNvSpPr>
          <p:nvPr>
            <p:ph type="title"/>
          </p:nvPr>
        </p:nvSpPr>
        <p:spPr>
          <a:xfrm>
            <a:off x="838200" y="118447"/>
            <a:ext cx="10734368" cy="864779"/>
          </a:xfrm>
        </p:spPr>
        <p:txBody>
          <a:bodyPr>
            <a:normAutofit/>
          </a:bodyPr>
          <a:lstStyle/>
          <a:p>
            <a:pPr algn="ctr"/>
            <a:r>
              <a:rPr lang="en-US" sz="2800" b="1">
                <a:latin typeface="Times New Roman" panose="02020603050405020304" pitchFamily="18" charset="0"/>
                <a:cs typeface="Times New Roman" panose="02020603050405020304" pitchFamily="18" charset="0"/>
              </a:rPr>
              <a:t>METHODOLOGY</a:t>
            </a:r>
            <a:endParaRPr lang="en-IN" sz="28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9EFBD9A-342C-E48C-7EC0-1044CFC449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45674" y="778388"/>
            <a:ext cx="9119419" cy="6079612"/>
          </a:xfrm>
          <a:prstGeom prst="rect">
            <a:avLst/>
          </a:prstGeom>
        </p:spPr>
      </p:pic>
    </p:spTree>
    <p:extLst>
      <p:ext uri="{BB962C8B-B14F-4D97-AF65-F5344CB8AC3E}">
        <p14:creationId xmlns:p14="http://schemas.microsoft.com/office/powerpoint/2010/main" val="1177641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9FB21-F295-8B77-6FEB-D2E7BE3A4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1ED8E-6F51-FFA3-2E77-463553417622}"/>
              </a:ext>
            </a:extLst>
          </p:cNvPr>
          <p:cNvSpPr>
            <a:spLocks noGrp="1"/>
          </p:cNvSpPr>
          <p:nvPr>
            <p:ph type="title"/>
          </p:nvPr>
        </p:nvSpPr>
        <p:spPr>
          <a:xfrm>
            <a:off x="728816" y="921634"/>
            <a:ext cx="10734368" cy="864779"/>
          </a:xfrm>
        </p:spPr>
        <p:txBody>
          <a:bodyPr>
            <a:normAutofit/>
          </a:bodyPr>
          <a:lstStyle/>
          <a:p>
            <a:r>
              <a:rPr lang="en-US" sz="2000" b="1">
                <a:latin typeface="Times New Roman" panose="02020603050405020304" pitchFamily="18" charset="0"/>
                <a:cs typeface="Times New Roman" panose="02020603050405020304" pitchFamily="18" charset="0"/>
              </a:rPr>
              <a:t>Download required libraries:</a:t>
            </a:r>
            <a:endParaRPr lang="en-IN" sz="20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4776A1E-C78E-8DA8-D940-E2039372C9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28816" y="1786413"/>
            <a:ext cx="5514054" cy="3827806"/>
          </a:xfrm>
          <a:prstGeom prst="rect">
            <a:avLst/>
          </a:prstGeom>
        </p:spPr>
      </p:pic>
      <p:sp>
        <p:nvSpPr>
          <p:cNvPr id="3" name="TextBox 2">
            <a:extLst>
              <a:ext uri="{FF2B5EF4-FFF2-40B4-BE49-F238E27FC236}">
                <a16:creationId xmlns:a16="http://schemas.microsoft.com/office/drawing/2014/main" id="{4D6A2695-8F3A-D3AA-5848-C27D1E214BDA}"/>
              </a:ext>
            </a:extLst>
          </p:cNvPr>
          <p:cNvSpPr txBox="1"/>
          <p:nvPr/>
        </p:nvSpPr>
        <p:spPr>
          <a:xfrm>
            <a:off x="1258529" y="275303"/>
            <a:ext cx="10440629" cy="646331"/>
          </a:xfrm>
          <a:prstGeom prst="rect">
            <a:avLst/>
          </a:prstGeom>
          <a:noFill/>
        </p:spPr>
        <p:txBody>
          <a:bodyPr wrap="square" rtlCol="0">
            <a:spAutoFit/>
          </a:bodyPr>
          <a:lstStyle/>
          <a:p>
            <a:pPr algn="ctr"/>
            <a:r>
              <a:rPr lang="en-US" sz="3600" b="1">
                <a:latin typeface="Times New Roman" panose="02020603050405020304" pitchFamily="18" charset="0"/>
                <a:cs typeface="Times New Roman" panose="02020603050405020304" pitchFamily="18" charset="0"/>
              </a:rPr>
              <a:t>LIBRARIES</a:t>
            </a:r>
            <a:endParaRPr lang="en-IN" sz="3600" b="1">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7051CC-D0F5-5E4D-C865-B6A332078CB7}"/>
              </a:ext>
            </a:extLst>
          </p:cNvPr>
          <p:cNvSpPr txBox="1"/>
          <p:nvPr/>
        </p:nvSpPr>
        <p:spPr>
          <a:xfrm>
            <a:off x="6784258" y="1710813"/>
            <a:ext cx="4827639" cy="3785652"/>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In our project, we used modules such as </a:t>
            </a:r>
            <a:r>
              <a:rPr lang="en-IN" sz="2400" err="1">
                <a:latin typeface="Times New Roman" panose="02020603050405020304" pitchFamily="18" charset="0"/>
                <a:cs typeface="Times New Roman" panose="02020603050405020304" pitchFamily="18" charset="0"/>
              </a:rPr>
              <a:t>langchain</a:t>
            </a:r>
            <a:r>
              <a:rPr lang="en-IN" sz="2400">
                <a:latin typeface="Times New Roman" panose="02020603050405020304" pitchFamily="18" charset="0"/>
                <a:cs typeface="Times New Roman" panose="02020603050405020304" pitchFamily="18" charset="0"/>
              </a:rPr>
              <a:t> for managing the RAG pipeline, </a:t>
            </a:r>
            <a:r>
              <a:rPr lang="en-IN" sz="2400" err="1">
                <a:latin typeface="Times New Roman" panose="02020603050405020304" pitchFamily="18" charset="0"/>
                <a:cs typeface="Times New Roman" panose="02020603050405020304" pitchFamily="18" charset="0"/>
              </a:rPr>
              <a:t>faiss-cpu</a:t>
            </a:r>
            <a:r>
              <a:rPr lang="en-IN" sz="2400">
                <a:latin typeface="Times New Roman" panose="02020603050405020304" pitchFamily="18" charset="0"/>
                <a:cs typeface="Times New Roman" panose="02020603050405020304" pitchFamily="18" charset="0"/>
              </a:rPr>
              <a:t> for vector similarity search, transformers for embeddings and response generation, and </a:t>
            </a:r>
            <a:r>
              <a:rPr lang="en-IN" sz="2400" err="1">
                <a:latin typeface="Times New Roman" panose="02020603050405020304" pitchFamily="18" charset="0"/>
                <a:cs typeface="Times New Roman" panose="02020603050405020304" pitchFamily="18" charset="0"/>
              </a:rPr>
              <a:t>PyPDFLoader</a:t>
            </a:r>
            <a:r>
              <a:rPr lang="en-IN" sz="2400">
                <a:latin typeface="Times New Roman" panose="02020603050405020304" pitchFamily="18" charset="0"/>
                <a:cs typeface="Times New Roman" panose="02020603050405020304" pitchFamily="18" charset="0"/>
              </a:rPr>
              <a:t> for loading PDF documents. We also used text splitters from </a:t>
            </a:r>
            <a:r>
              <a:rPr lang="en-IN" sz="2400" err="1">
                <a:latin typeface="Times New Roman" panose="02020603050405020304" pitchFamily="18" charset="0"/>
                <a:cs typeface="Times New Roman" panose="02020603050405020304" pitchFamily="18" charset="0"/>
              </a:rPr>
              <a:t>LangChain</a:t>
            </a:r>
            <a:r>
              <a:rPr lang="en-IN" sz="2400">
                <a:latin typeface="Times New Roman" panose="02020603050405020304" pitchFamily="18" charset="0"/>
                <a:cs typeface="Times New Roman" panose="02020603050405020304" pitchFamily="18" charset="0"/>
              </a:rPr>
              <a:t> to divide documents into chunks before creating embeddings.</a:t>
            </a:r>
          </a:p>
        </p:txBody>
      </p:sp>
    </p:spTree>
    <p:extLst>
      <p:ext uri="{BB962C8B-B14F-4D97-AF65-F5344CB8AC3E}">
        <p14:creationId xmlns:p14="http://schemas.microsoft.com/office/powerpoint/2010/main" val="350761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F888E-12AC-1CCF-1DCB-B901C037A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DA671-1B72-2246-3326-0C8D1DB3B8EE}"/>
              </a:ext>
            </a:extLst>
          </p:cNvPr>
          <p:cNvSpPr>
            <a:spLocks noGrp="1"/>
          </p:cNvSpPr>
          <p:nvPr>
            <p:ph type="title"/>
          </p:nvPr>
        </p:nvSpPr>
        <p:spPr>
          <a:xfrm rot="-240000">
            <a:off x="492842" y="-998326"/>
            <a:ext cx="10734368" cy="331239"/>
          </a:xfrm>
        </p:spPr>
        <p:txBody>
          <a:bodyPr>
            <a:normAutofit fontScale="90000"/>
          </a:bodyPr>
          <a:lstStyle/>
          <a:p>
            <a:endParaRPr lang="en-IN" sz="20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B736404-2F2B-DDA4-1863-9CD1682D7EE3}"/>
              </a:ext>
            </a:extLst>
          </p:cNvPr>
          <p:cNvPicPr>
            <a:picLocks noChangeAspect="1"/>
          </p:cNvPicPr>
          <p:nvPr/>
        </p:nvPicPr>
        <p:blipFill>
          <a:blip r:embed="rId2"/>
          <a:srcRect/>
          <a:stretch/>
        </p:blipFill>
        <p:spPr>
          <a:xfrm>
            <a:off x="581449" y="837978"/>
            <a:ext cx="4940587" cy="2749855"/>
          </a:xfrm>
          <a:prstGeom prst="rect">
            <a:avLst/>
          </a:prstGeom>
        </p:spPr>
      </p:pic>
      <p:sp>
        <p:nvSpPr>
          <p:cNvPr id="3" name="TextBox 2">
            <a:extLst>
              <a:ext uri="{FF2B5EF4-FFF2-40B4-BE49-F238E27FC236}">
                <a16:creationId xmlns:a16="http://schemas.microsoft.com/office/drawing/2014/main" id="{96D84991-1AD7-5442-E9B0-57164041190B}"/>
              </a:ext>
            </a:extLst>
          </p:cNvPr>
          <p:cNvSpPr txBox="1"/>
          <p:nvPr/>
        </p:nvSpPr>
        <p:spPr>
          <a:xfrm>
            <a:off x="1012723" y="107602"/>
            <a:ext cx="10440629" cy="646331"/>
          </a:xfrm>
          <a:prstGeom prst="rect">
            <a:avLst/>
          </a:prstGeom>
          <a:noFill/>
        </p:spPr>
        <p:txBody>
          <a:bodyPr wrap="square" rtlCol="0">
            <a:spAutoFit/>
          </a:bodyPr>
          <a:lstStyle/>
          <a:p>
            <a:pPr algn="ctr"/>
            <a:r>
              <a:rPr lang="en-US" sz="3600" b="1">
                <a:latin typeface="Times New Roman" panose="02020603050405020304" pitchFamily="18" charset="0"/>
                <a:cs typeface="Times New Roman" panose="02020603050405020304" pitchFamily="18" charset="0"/>
              </a:rPr>
              <a:t>CODE SNIPPETS</a:t>
            </a:r>
            <a:endParaRPr lang="en-IN" sz="3600" b="1">
              <a:latin typeface="Times New Roman" panose="02020603050405020304" pitchFamily="18" charset="0"/>
              <a:cs typeface="Times New Roman" panose="02020603050405020304" pitchFamily="18" charset="0"/>
            </a:endParaRPr>
          </a:p>
        </p:txBody>
      </p:sp>
      <p:pic>
        <p:nvPicPr>
          <p:cNvPr id="4" name="Picture 3" descr="A screen shot of a computer program&#10;&#10;AI-generated content may be incorrect.">
            <a:extLst>
              <a:ext uri="{FF2B5EF4-FFF2-40B4-BE49-F238E27FC236}">
                <a16:creationId xmlns:a16="http://schemas.microsoft.com/office/drawing/2014/main" id="{CDDD7979-7852-B749-3ABA-5E475E0C40A3}"/>
              </a:ext>
            </a:extLst>
          </p:cNvPr>
          <p:cNvPicPr>
            <a:picLocks noChangeAspect="1"/>
          </p:cNvPicPr>
          <p:nvPr/>
        </p:nvPicPr>
        <p:blipFill>
          <a:blip r:embed="rId3"/>
          <a:stretch>
            <a:fillRect/>
          </a:stretch>
        </p:blipFill>
        <p:spPr>
          <a:xfrm>
            <a:off x="5729967" y="837978"/>
            <a:ext cx="5586962" cy="2652935"/>
          </a:xfrm>
          <a:prstGeom prst="rect">
            <a:avLst/>
          </a:prstGeom>
        </p:spPr>
      </p:pic>
      <p:pic>
        <p:nvPicPr>
          <p:cNvPr id="21" name="Picture 20">
            <a:extLst>
              <a:ext uri="{FF2B5EF4-FFF2-40B4-BE49-F238E27FC236}">
                <a16:creationId xmlns:a16="http://schemas.microsoft.com/office/drawing/2014/main" id="{9ABA8A80-6E71-4E25-4524-EACF77A5BBF9}"/>
              </a:ext>
            </a:extLst>
          </p:cNvPr>
          <p:cNvPicPr>
            <a:picLocks noChangeAspect="1"/>
          </p:cNvPicPr>
          <p:nvPr/>
        </p:nvPicPr>
        <p:blipFill>
          <a:blip r:embed="rId4"/>
          <a:stretch>
            <a:fillRect/>
          </a:stretch>
        </p:blipFill>
        <p:spPr>
          <a:xfrm>
            <a:off x="581449" y="3755923"/>
            <a:ext cx="4940587" cy="3055208"/>
          </a:xfrm>
          <a:prstGeom prst="rect">
            <a:avLst/>
          </a:prstGeom>
        </p:spPr>
      </p:pic>
      <p:pic>
        <p:nvPicPr>
          <p:cNvPr id="7" name="Picture 6" descr="A computer screen shot of a computer code&#10;&#10;AI-generated content may be incorrect.">
            <a:extLst>
              <a:ext uri="{FF2B5EF4-FFF2-40B4-BE49-F238E27FC236}">
                <a16:creationId xmlns:a16="http://schemas.microsoft.com/office/drawing/2014/main" id="{537831EF-3214-39C4-404E-3DF38A0F8428}"/>
              </a:ext>
            </a:extLst>
          </p:cNvPr>
          <p:cNvPicPr>
            <a:picLocks noChangeAspect="1"/>
          </p:cNvPicPr>
          <p:nvPr/>
        </p:nvPicPr>
        <p:blipFill>
          <a:blip r:embed="rId5"/>
          <a:stretch>
            <a:fillRect/>
          </a:stretch>
        </p:blipFill>
        <p:spPr>
          <a:xfrm>
            <a:off x="5830528" y="3755923"/>
            <a:ext cx="5486401" cy="3047648"/>
          </a:xfrm>
          <a:prstGeom prst="rect">
            <a:avLst/>
          </a:prstGeom>
        </p:spPr>
      </p:pic>
    </p:spTree>
    <p:extLst>
      <p:ext uri="{BB962C8B-B14F-4D97-AF65-F5344CB8AC3E}">
        <p14:creationId xmlns:p14="http://schemas.microsoft.com/office/powerpoint/2010/main" val="51048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12C824-4950-C8A1-3A25-576F2A39E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59354"/>
            <a:ext cx="12192000" cy="5148891"/>
          </a:xfrm>
          <a:prstGeom prst="rect">
            <a:avLst/>
          </a:prstGeom>
        </p:spPr>
      </p:pic>
      <p:sp>
        <p:nvSpPr>
          <p:cNvPr id="10" name="TextBox 9">
            <a:extLst>
              <a:ext uri="{FF2B5EF4-FFF2-40B4-BE49-F238E27FC236}">
                <a16:creationId xmlns:a16="http://schemas.microsoft.com/office/drawing/2014/main" id="{9E01C50D-6210-2793-0025-4D2426D29463}"/>
              </a:ext>
            </a:extLst>
          </p:cNvPr>
          <p:cNvSpPr txBox="1"/>
          <p:nvPr/>
        </p:nvSpPr>
        <p:spPr>
          <a:xfrm>
            <a:off x="2290916" y="167148"/>
            <a:ext cx="7944465" cy="584775"/>
          </a:xfrm>
          <a:prstGeom prst="rect">
            <a:avLst/>
          </a:prstGeom>
          <a:noFill/>
        </p:spPr>
        <p:txBody>
          <a:bodyPr wrap="square" rtlCol="0">
            <a:spAutoFit/>
          </a:bodyPr>
          <a:lstStyle/>
          <a:p>
            <a:pPr algn="ctr"/>
            <a:r>
              <a:rPr lang="en-US" sz="3200" b="1">
                <a:latin typeface="Times New Roman" panose="02020603050405020304" pitchFamily="18" charset="0"/>
                <a:cs typeface="Times New Roman" panose="02020603050405020304" pitchFamily="18" charset="0"/>
              </a:rPr>
              <a:t>OUTPUT</a:t>
            </a:r>
            <a:endParaRPr lang="en-IN"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89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84DCCF-65DF-D0A7-E8C6-46E6E8767EA4}"/>
              </a:ext>
            </a:extLst>
          </p:cNvPr>
          <p:cNvSpPr txBox="1"/>
          <p:nvPr/>
        </p:nvSpPr>
        <p:spPr>
          <a:xfrm>
            <a:off x="2841523" y="412955"/>
            <a:ext cx="7187380" cy="523220"/>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CONCLUSION</a:t>
            </a:r>
            <a:endParaRPr lang="en-IN" sz="2800"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11E9965-59B5-188E-FB88-5D91DA25EE84}"/>
              </a:ext>
            </a:extLst>
          </p:cNvPr>
          <p:cNvSpPr txBox="1"/>
          <p:nvPr/>
        </p:nvSpPr>
        <p:spPr>
          <a:xfrm>
            <a:off x="835742" y="1425677"/>
            <a:ext cx="10451690" cy="3539430"/>
          </a:xfrm>
          <a:prstGeom prst="rect">
            <a:avLst/>
          </a:prstGeom>
          <a:noFill/>
        </p:spPr>
        <p:txBody>
          <a:bodyPr wrap="square" rtlCol="0">
            <a:spAutoFit/>
          </a:bodyPr>
          <a:lstStyle/>
          <a:p>
            <a:pPr algn="just"/>
            <a:r>
              <a:rPr lang="en-US" sz="2800"/>
              <a:t>In this project, we successfully developed a Retrieval-Augmented Generation (RAG) based Question Answering system that combines semantic retrieval with Large Language Model generation. By integrating document embeddings, FAISS vector search, and contextual response generation, our system provides accurate, relevant, and document-grounded answers. This approach reduces hallucination and demonstrates how modern NLP techniques can be applied to build intelligent and reliable real-world applications.</a:t>
            </a:r>
            <a:endParaRPr lang="en-IN"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355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661284-E27E-8E3C-F161-24EBF5FDA778}"/>
              </a:ext>
            </a:extLst>
          </p:cNvPr>
          <p:cNvSpPr txBox="1"/>
          <p:nvPr/>
        </p:nvSpPr>
        <p:spPr>
          <a:xfrm>
            <a:off x="1632154" y="2228671"/>
            <a:ext cx="8455742" cy="1200329"/>
          </a:xfrm>
          <a:prstGeom prst="rect">
            <a:avLst/>
          </a:prstGeom>
          <a:noFill/>
        </p:spPr>
        <p:txBody>
          <a:bodyPr wrap="square" rtlCol="0">
            <a:spAutoFit/>
          </a:bodyPr>
          <a:lstStyle/>
          <a:p>
            <a:pPr algn="ctr"/>
            <a:r>
              <a:rPr lang="en-US" sz="7200">
                <a:latin typeface="Times New Roman" panose="02020603050405020304" pitchFamily="18" charset="0"/>
                <a:cs typeface="Times New Roman" panose="02020603050405020304" pitchFamily="18" charset="0"/>
              </a:rPr>
              <a:t>THANK YOU</a:t>
            </a:r>
            <a:endParaRPr lang="en-IN" sz="7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20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    RAGHU ENGINEERING COLLEGE  Multi-Document Question Answering System using Retrieval Augmented Generation (RAG) </vt:lpstr>
      <vt:lpstr>TABLE OF CONTENTS</vt:lpstr>
      <vt:lpstr>INTRODUCTION</vt:lpstr>
      <vt:lpstr>ABSTRACT</vt:lpstr>
      <vt:lpstr>PROBLEM STATMENT</vt:lpstr>
      <vt:lpstr>EXSISTING SYSTEM</vt:lpstr>
      <vt:lpstr>PROPOSED SYSTEM</vt:lpstr>
      <vt:lpstr>EXISTING VS PROPOSED </vt:lpstr>
      <vt:lpstr>ARCHITECTURE </vt:lpstr>
      <vt:lpstr>METHODOLOGY</vt:lpstr>
      <vt:lpstr>Download required libraries: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sudrashan gaga</dc:creator>
  <cp:revision>43</cp:revision>
  <dcterms:created xsi:type="dcterms:W3CDTF">2026-02-23T14:27:22Z</dcterms:created>
  <dcterms:modified xsi:type="dcterms:W3CDTF">2026-02-23T18:13:25Z</dcterms:modified>
</cp:coreProperties>
</file>